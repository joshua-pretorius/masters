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146304" cy="6858000"/>
          </a:xfrm>
          <a:prstGeom prst="rect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85735" y="1328951"/>
            <a:ext cx="6211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E213E"/>
                </a:solidFill>
              </a:rPr>
              <a:t>Building a SAR-Based Marine Plastic Detection Data Pipeline for South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06324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Presentation for the Department of Forestry, Fisheries and the Environment (DFFE)</a:t>
            </a:r>
          </a:p>
          <a:p>
            <a:r>
              <a:rPr sz="1400">
                <a:solidFill>
                  <a:srgbClr val="64748B"/>
                </a:solidFill>
              </a:rPr>
              <a:t>Joshua Pretorius | MSc Geoinformatics | University of Pretoria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777" y="5051322"/>
            <a:ext cx="19285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Focus:
Data creation for operational SAR-based marine plastic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Project aim and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Marine plastics | SAR | South Africa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400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Develop a Sentinel-1 SAR-based capability for detecting floating marine plastics in the South African EEZ.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Address the main bottleneck in the field: the shortage of reliable SAR-labelled training data.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Move beyond optical-only detection, which is constrained by cloud cover and illumination conditions.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Create a pathway from research outputs to operational monitoring and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7160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1481328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Primary sensor</a:t>
            </a:r>
          </a:p>
          <a:p>
            <a:r>
              <a:rPr sz="2000" b="1">
                <a:solidFill>
                  <a:srgbClr val="1D8C9A"/>
                </a:solidFill>
              </a:rPr>
              <a:t>Sentinel-1 SAR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3716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1512" y="1481328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Study area</a:t>
            </a:r>
          </a:p>
          <a:p>
            <a:r>
              <a:rPr sz="2000" b="1">
                <a:solidFill>
                  <a:srgbClr val="1D8C9A"/>
                </a:solidFill>
              </a:rPr>
              <a:t>SA EEZ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743200"/>
            <a:ext cx="3931920" cy="2011680"/>
          </a:xfrm>
          <a:prstGeom prst="roundRect">
            <a:avLst/>
          </a:prstGeom>
          <a:solidFill>
            <a:srgbClr val="EEF6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2852928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Core message</a:t>
            </a:r>
          </a:p>
          <a:p>
            <a:r>
              <a:rPr sz="2000" b="1">
                <a:solidFill>
                  <a:srgbClr val="1D8C9A"/>
                </a:solidFill>
              </a:rPr>
              <a:t>This project is now primarily a data creation problem, not only a model development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Work already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Substantial groundwork already in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5836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Linked optical observations from Sentinel-2 and Planet to nearby Sentinel-1 acquisitions.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Built a drift-modelling workflow using currents, wind, waves and related environmental variables.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Designed a drift-aware cross-sensor label transfer framework.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Established an optical baseline using the MARIDA dataset.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Defined a SAR modelling approach using SSL, U-Net segmentation and biophysical inputs.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Automated key parts of the download, pairing and preprocessing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7160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2" y="1481328"/>
            <a:ext cx="1371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MARIDA scenes</a:t>
            </a:r>
          </a:p>
          <a:p>
            <a:r>
              <a:rPr sz="2000" b="1">
                <a:solidFill>
                  <a:srgbClr val="1D8C9A"/>
                </a:solidFill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716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28632" y="1481328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Planet scenes</a:t>
            </a:r>
          </a:p>
          <a:p>
            <a:r>
              <a:rPr sz="2000" b="1">
                <a:solidFill>
                  <a:srgbClr val="1D8C9A"/>
                </a:solidFill>
              </a:rPr>
              <a:t>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743200"/>
            <a:ext cx="3657600" cy="2011680"/>
          </a:xfrm>
          <a:prstGeom prst="roundRect">
            <a:avLst/>
          </a:prstGeom>
          <a:solidFill>
            <a:srgbClr val="EEF6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2" y="2852928"/>
            <a:ext cx="3383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213E"/>
                </a:solidFill>
              </a:rPr>
              <a:t>Important point</a:t>
            </a:r>
          </a:p>
          <a:p>
            <a:r>
              <a:rPr sz="2000" b="1">
                <a:solidFill>
                  <a:srgbClr val="1D8C9A"/>
                </a:solidFill>
              </a:rPr>
              <a:t>We are not approaching DFFE with only an idea. A structured pipeline and clear data logic already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Data streams and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How the workflow fits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4173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Optical labelled observations</a:t>
            </a:r>
          </a:p>
          <a:p>
            <a:r>
              <a:rPr sz="1150">
                <a:solidFill>
                  <a:srgbClr val="1E293B"/>
                </a:solidFill>
              </a:rPr>
              <a:t>Sentinel-2, Planet, MARIDA</a:t>
            </a:r>
          </a:p>
        </p:txBody>
      </p:sp>
      <p:sp>
        <p:nvSpPr>
          <p:cNvPr id="9" name="Chevron 8"/>
          <p:cNvSpPr/>
          <p:nvPr/>
        </p:nvSpPr>
        <p:spPr>
          <a:xfrm>
            <a:off x="2176272" y="2514600"/>
            <a:ext cx="292608" cy="411480"/>
          </a:xfrm>
          <a:prstGeom prst="chevron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3172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41448" y="1965960"/>
            <a:ext cx="14173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Nearest SAR acquisition</a:t>
            </a:r>
          </a:p>
          <a:p>
            <a:r>
              <a:rPr sz="1150">
                <a:solidFill>
                  <a:srgbClr val="1E293B"/>
                </a:solidFill>
              </a:rPr>
              <a:t>Sentinel-1 SLC / GRD pairing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4005072" y="2514600"/>
            <a:ext cx="292608" cy="411480"/>
          </a:xfrm>
          <a:prstGeom prst="chevron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1828800"/>
            <a:ext cx="1783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1965960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Drift modelling</a:t>
            </a:r>
          </a:p>
          <a:p>
            <a:r>
              <a:rPr sz="1150">
                <a:solidFill>
                  <a:srgbClr val="1E293B"/>
                </a:solidFill>
              </a:rPr>
              <a:t>Currents, wind, waves, delta t</a:t>
            </a:r>
          </a:p>
        </p:txBody>
      </p:sp>
      <p:sp>
        <p:nvSpPr>
          <p:cNvPr id="15" name="Chevron 14"/>
          <p:cNvSpPr/>
          <p:nvPr/>
        </p:nvSpPr>
        <p:spPr>
          <a:xfrm>
            <a:off x="6016752" y="2514600"/>
            <a:ext cx="292608" cy="411480"/>
          </a:xfrm>
          <a:prstGeom prst="chevron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965960"/>
            <a:ext cx="1554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Candidate SAR label zone</a:t>
            </a:r>
          </a:p>
          <a:p>
            <a:r>
              <a:rPr sz="1150">
                <a:solidFill>
                  <a:srgbClr val="1E293B"/>
                </a:solidFill>
              </a:rPr>
              <a:t>Predicted patch location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074152" y="2514600"/>
            <a:ext cx="292608" cy="411480"/>
          </a:xfrm>
          <a:prstGeom prst="chevron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8" y="1965960"/>
            <a:ext cx="1463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SAR training data</a:t>
            </a:r>
          </a:p>
          <a:p>
            <a:r>
              <a:rPr sz="1150">
                <a:solidFill>
                  <a:srgbClr val="1E293B"/>
                </a:solidFill>
              </a:rPr>
              <a:t>Manual / assisted label creation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40112" y="2514600"/>
            <a:ext cx="292608" cy="411480"/>
          </a:xfrm>
          <a:prstGeom prst="chevron">
            <a:avLst/>
          </a:prstGeom>
          <a:solidFill>
            <a:srgbClr val="1D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49840" y="1828800"/>
            <a:ext cx="1554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59568" y="1965960"/>
            <a:ext cx="1371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213E"/>
                </a:solidFill>
              </a:rPr>
              <a:t>Model fine-tuning</a:t>
            </a:r>
          </a:p>
          <a:p>
            <a:r>
              <a:rPr sz="1150">
                <a:solidFill>
                  <a:srgbClr val="1E293B"/>
                </a:solidFill>
              </a:rPr>
              <a:t>Segmentation and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B6CB0"/>
                </a:solidFill>
              </a:rPr>
              <a:t>The project is built around turning existing optical observations plus drift physics into reliable SAR training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The critical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Why collaboration is needed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213E"/>
                </a:solidFill>
              </a:rPr>
              <a:t>Current limitation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No sufficiently reliable SAR-labelled dataset for floating plastics is currently available.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Optical labels cannot be transferred directly into SAR without uncertainty.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Drift between acquisition times makes exact correspondence difficult.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This blocks robust fine-tuning, validation and operational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4389120"/>
          </a:xfrm>
          <a:prstGeom prst="roundRect">
            <a:avLst/>
          </a:prstGeom>
          <a:solidFill>
            <a:srgbClr val="EEF6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213E"/>
                </a:solidFill>
              </a:rPr>
              <a:t>What solves it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Field-linked plastic observations with timestamps and locations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Validation opportunities tied to real plastic events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In-situ data creation and/or drift-aware cross-sensor labelling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 South African SAR training dataset that can support model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How DFFE can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Specific, practical collaboration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4008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Provide or help facilitate access to known plastic event observations with coordinates and timestamps.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Support validation through cleanup campaigns, patrol records, monitoring programmes or field observations.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Help identify priority coastal areas, event types and time windows that are operationally relevant.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Enable the pairing of real-world events with satellite overpasses.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Collaborate on building a South African SAR-focused marine plastic training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297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82880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213E"/>
                </a:solidFill>
              </a:rPr>
              <a:t>Expected outcome</a:t>
            </a:r>
          </a:p>
          <a:p>
            <a:r>
              <a:rPr sz="1900" b="1">
                <a:solidFill>
                  <a:srgbClr val="1D8C9A"/>
                </a:solidFill>
              </a:rPr>
              <a:t>A transition from a research prototype to a practical national monitoring capability for floating marine plastics.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6. Proposed 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DCE4F0"/>
                </a:solidFill>
              </a:rPr>
              <a:t>What to leave with DFFE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6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Joshua Pretorius | MSc Geoinformatics | DFFE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9875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E293B"/>
                </a:solidFill>
              </a:rPr>
              <a:t>We have already built much of the surrounding workflow needed for SAR-based marine plastic detection, including optical-to-SAR pairing, drift modelling, pipeline automation and baseline modelling. The remaining bottleneck is the creation of reliable SAR-labelled data. This is where collaboration with DFFE can have the highest impact.</a:t>
            </a:r>
          </a:p>
          <a:p>
            <a:pPr>
              <a:spcBef>
                <a:spcPts val="1800"/>
              </a:spcBef>
            </a:pPr>
            <a:r>
              <a:rPr sz="2200" b="1">
                <a:solidFill>
                  <a:srgbClr val="2B6CB0"/>
                </a:solidFill>
              </a:rPr>
              <a:t>The opportunity is to co-develop a South African dataset and workflow that can support both research and operational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Pretorius</cp:lastModifiedBy>
  <cp:revision>2</cp:revision>
  <dcterms:created xsi:type="dcterms:W3CDTF">2013-01-27T09:14:16Z</dcterms:created>
  <dcterms:modified xsi:type="dcterms:W3CDTF">2026-04-14T10:11:46Z</dcterms:modified>
  <cp:category/>
</cp:coreProperties>
</file>